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54568195f347f3" /><Relationship Type="http://schemas.openxmlformats.org/officeDocument/2006/relationships/extended-properties" Target="/docProps/app.xml" Id="R91cc070347394cd0" /><Relationship Type="http://schemas.openxmlformats.org/officeDocument/2006/relationships/officeDocument" Target="/ppt/presentation.xml" Id="R5db40044e1f94f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0bceffe0594bd6"/>
  </p:sldMasterIdLst>
  <p:notesMasterIdLst>
    <p:notesMasterId xmlns:r="http://schemas.openxmlformats.org/officeDocument/2006/relationships" r:id="R5a4e96c9d46a4086"/>
  </p:notesMasterIdLst>
  <p:sldIdLst>
    <p:sldId xmlns:r="http://schemas.openxmlformats.org/officeDocument/2006/relationships" id="256" r:id="Reb79df533e4741d0"/>
    <p:sldId xmlns:r="http://schemas.openxmlformats.org/officeDocument/2006/relationships" id="257" r:id="Rf70435f3592249df"/>
  </p:sldIdLst>
  <p:sldSz cx="9525000" cy="134683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bceffe0594bd6" /><Relationship Type="http://schemas.openxmlformats.org/officeDocument/2006/relationships/theme" Target="/ppt/theme/theme1.xml" Id="R0e4a225b2ce04a91" /><Relationship Type="http://schemas.openxmlformats.org/officeDocument/2006/relationships/notesMaster" Target="/ppt/notesMasters/notesMaster1.xml" Id="R5a4e96c9d46a4086" /><Relationship Type="http://schemas.openxmlformats.org/officeDocument/2006/relationships/presProps" Target="/ppt/presProps.xml" Id="R04f0149068a04719" /><Relationship Type="http://schemas.openxmlformats.org/officeDocument/2006/relationships/viewProps" Target="/ppt/viewProps.xml" Id="R2da2c5e019804d57" /><Relationship Type="http://schemas.openxmlformats.org/officeDocument/2006/relationships/tableStyles" Target="/ppt/tableStyles.xml" Id="Rea34a4fccfda4652" /><Relationship Type="http://schemas.openxmlformats.org/officeDocument/2006/relationships/slide" Target="/ppt/slides/slide1.xml" Id="Reb79df533e4741d0" /><Relationship Type="http://schemas.openxmlformats.org/officeDocument/2006/relationships/slide" Target="/ppt/slides/slide2.xml" Id="Rf70435f3592249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dc9dd9ac20646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36796335c744c3" /><Relationship Type="http://schemas.openxmlformats.org/officeDocument/2006/relationships/notesMaster" Target="/ppt/notesMasters/notesMaster1.xml" Id="R545f5cecc8f840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07c0ea825d447e" /><Relationship Type="http://schemas.openxmlformats.org/officeDocument/2006/relationships/notesMaster" Target="/ppt/notesMasters/notesMaster1.xml" Id="R9b32f4e507ca4d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c7f735e2d417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5e1b218585d4b30" /><Relationship Type="http://schemas.openxmlformats.org/officeDocument/2006/relationships/slideLayout" Target="/ppt/slideLayouts/slideLayout2.xml" Id="R1057afb9b74644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57afb9b74644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6ba9e26f974054" /><Relationship Type="http://schemas.openxmlformats.org/officeDocument/2006/relationships/image" Target="/ppt/media/image.png" Id="R66916793030d4adf" /><Relationship Type="http://schemas.openxmlformats.org/officeDocument/2006/relationships/notesSlide" Target="/ppt/notesSlides/notesSlide1.xml" Id="R65f1e161b8954a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affddd27f74f0c" /><Relationship Type="http://schemas.openxmlformats.org/officeDocument/2006/relationships/image" Target="/ppt/media/image2.png" Id="Rcfd06aec33db4693" /><Relationship Type="http://schemas.openxmlformats.org/officeDocument/2006/relationships/notesSlide" Target="/ppt/notesSlides/notesSlide2.xml" Id="Rd59e1535f59e40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2024D0-CC0C-4680-A258-B37387CC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1346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D4C63-E8AB-49B3-886C-085EB591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E924D-4AB6-40E5-8010-3263D7B0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8" y="7810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CEF9A-168D-4F2D-8972-464FDE5D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7810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CDF0F-DB04-4156-81D8-8881D314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63" y="7810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7B517-5888-478D-9862-BDF7308A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8229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16793030d4adf"/>
          <a:stretch xmlns:a="http://schemas.openxmlformats.org/drawingml/2006/main"/>
        </p:blipFill>
        <p:spPr>
          <a:xfrm xmlns:a="http://schemas.openxmlformats.org/drawingml/2006/main">
            <a:off x="7524750" y="400304"/>
            <a:ext cx="1123950" cy="70434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9F468-66BE-4B19-94EF-34A6CBF0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5A55"/>
                </a:solidFill>
                <a:latin typeface="BDO Grotesk"/>
                <a:ea typeface="BDO Grotesk"/>
                <a:cs typeface="BDO Grotesk"/>
              </a:defRPr>
            </a:pPr>
            <a:r>
              <a:rPr sz="1200" b="1">
                <a:solidFill>
                  <a:srgbClr val="5C5A55"/>
                </a:solidFill>
                <a:latin typeface="BDO Grotesk"/>
                <a:ea typeface="BDO Grotesk"/>
                <a:cs typeface="BDO Grotesk"/>
              </a:rPr>
              <a:t>TRACE / FRAMEWORK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FFB07-3F45-4436-AF3A-C0496667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360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TRACE Threat Modeling Framework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0F907-A432-42A4-9125-57EA6D28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7734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5A55"/>
                </a:solidFill>
                <a:latin typeface="BDO Grotesk"/>
                <a:ea typeface="BDO Grotesk"/>
                <a:cs typeface="BDO Grotesk"/>
              </a:defRPr>
            </a:pPr>
            <a:r>
              <a:rPr sz="1725" b="0">
                <a:solidFill>
                  <a:srgbClr val="5C5A55"/>
                </a:solidFill>
                <a:latin typeface="BDO Grotesk"/>
                <a:ea typeface="BDO Grotesk"/>
                <a:cs typeface="BDO Grotesk"/>
              </a:rPr>
              <a:t>A method for modern decentralized organisations that turns heterogeneous source material into a structured model, then uses STRIDE, attack trees, and optional coordination analysis to produce decision-ready security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5543A-83E8-4780-B52D-33007D6D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7848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38512-634E-4B81-BC3F-8C0E11FD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9669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472CE-8142-46DE-9725-EF635F72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48200"/>
            <a:ext cx="19669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A7299-75EB-4CD0-92E2-59EEDA1C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19669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48DFD-BB62-4A01-B13A-AA383393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48200"/>
            <a:ext cx="19669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26748-0BF4-4AD7-A422-7F3FA35A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BDO Grotesk"/>
                <a:ea typeface="BDO Grotesk"/>
                <a:cs typeface="BDO Grotesk"/>
              </a:defRPr>
            </a:pPr>
            <a:r>
              <a:rPr sz="1425" b="1">
                <a:solidFill>
                  <a:srgbClr val="FFFFFF"/>
                </a:solidFill>
                <a:latin typeface="BDO Grotesk"/>
                <a:ea typeface="BDO Grotesk"/>
                <a:cs typeface="BDO Grotesk"/>
              </a:rPr>
              <a:t>Why modern organisations need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BE6AA-40DD-4931-A8FE-75BBD716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19650"/>
            <a:ext cx="533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FFFFFF">
                    <a:alpha val="72941"/>
                  </a:srgbClr>
                </a:solidFill>
                <a:latin typeface="BDO Grotesk"/>
                <a:ea typeface="BDO Grotesk"/>
                <a:cs typeface="BDO Grotesk"/>
              </a:defRPr>
            </a:pPr>
            <a:r>
              <a:rPr sz="1163" b="0">
                <a:solidFill>
                  <a:srgbClr val="FFFFFF">
                    <a:alpha val="72941"/>
                  </a:srgbClr>
                </a:solidFill>
                <a:latin typeface="BDO Grotesk"/>
                <a:ea typeface="BDO Grotesk"/>
                <a:cs typeface="BDO Grotesk"/>
              </a:rPr>
              <a:t>Modern cloud-first organisations combine high-value assets, distributed authority, SaaS and cloud systems, remote operations, and human control paths. TRACE keeps these in one model: STRIDE for conventional computing risk, plus attack trees and coordination analysis for protocol, system, and organisation risk.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213AC-22E3-4C92-A78B-BC8B4AFE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49B91-E960-491F-A85C-A5426C71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64103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71383-4C9A-4EB7-9F6D-EA820659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4103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8E612-66C3-479C-874C-F86B8D83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3" y="64103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3B3AA-808B-4FA3-B6E8-AB3CB824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24600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80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TRACE model primitives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187F5-4E49-4B58-8A8C-3322FA61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77050"/>
            <a:ext cx="150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153041-D33E-465B-B13B-9FBBDF9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DB658-ACE4-4D54-BA82-075E6B69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8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466629-A518-4232-A5C0-8B91C4DE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E1C816-9D88-4D4F-9B5F-C0B82FC7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413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C43BC-4370-42C2-AB51-600585EB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0"/>
            <a:ext cx="457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C965"/>
                </a:solidFill>
                <a:latin typeface="BDO Grotesk"/>
                <a:ea typeface="BDO Grotesk"/>
                <a:cs typeface="BDO Grotesk"/>
              </a:defRPr>
            </a:pPr>
            <a:r>
              <a:rPr sz="3450" b="1">
                <a:solidFill>
                  <a:srgbClr val="FFC965"/>
                </a:solidFill>
                <a:latin typeface="BDO Grotesk"/>
                <a:ea typeface="BDO Grotesk"/>
                <a:cs typeface="BDO Grotesk"/>
              </a:rPr>
              <a:t>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AAED0A-ECD8-408F-9CBF-079E9321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143750"/>
            <a:ext cx="742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BDO Grotesk"/>
                <a:ea typeface="BDO Grotesk"/>
                <a:cs typeface="BDO Grotesk"/>
              </a:defRPr>
            </a:pPr>
            <a:r>
              <a:rPr sz="1050" b="1">
                <a:solidFill>
                  <a:srgbClr val="FFFFFF"/>
                </a:solidFill>
                <a:latin typeface="BDO Grotesk"/>
                <a:ea typeface="BDO Grotesk"/>
                <a:cs typeface="BDO Grotesk"/>
              </a:rPr>
              <a:t>Threat actors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3A3020-E43B-400E-B18D-1D53D6D1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72400"/>
            <a:ext cx="1066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72157"/>
                  </a:srgbClr>
                </a:solidFill>
                <a:latin typeface="BDO Grotesk"/>
                <a:ea typeface="BDO Grotesk"/>
                <a:cs typeface="BDO Grotesk"/>
              </a:defRPr>
            </a:pPr>
            <a:r>
              <a:rPr sz="900" b="0">
                <a:solidFill>
                  <a:srgbClr val="FFFFFF">
                    <a:alpha val="72157"/>
                  </a:srgbClr>
                </a:solidFill>
                <a:latin typeface="BDO Grotesk"/>
                <a:ea typeface="BDO Grotesk"/>
                <a:cs typeface="BDO Grotesk"/>
              </a:rPr>
              <a:t>Potential adversaries and relevant trust assumptions.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292F1E-E24C-45EE-919E-464A6FAD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877050"/>
            <a:ext cx="150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5D0DE2-AD2E-47AE-92E6-0BEE2913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46C17F-18D4-4651-805B-BD92FC37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088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3B688B-704A-49A0-9586-5219B6A4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E60DAE-8D27-434A-9168-FCC2A36A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54966E-6B84-4486-A10D-C244A206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143750"/>
            <a:ext cx="457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34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E614D5-2B8E-4683-910F-B37EBB90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7143750"/>
            <a:ext cx="742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0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Roles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A6D734-FE1B-466B-8275-3BA975BD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772400"/>
            <a:ext cx="1066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BDO Grotesk"/>
                <a:ea typeface="BDO Grotesk"/>
                <a:cs typeface="BDO Grotesk"/>
              </a:defRPr>
            </a:pPr>
            <a:r>
              <a:rPr sz="900" b="0">
                <a:solidFill>
                  <a:srgbClr val="5C5A55"/>
                </a:solidFill>
                <a:latin typeface="BDO Grotesk"/>
                <a:ea typeface="BDO Grotesk"/>
                <a:cs typeface="BDO Grotesk"/>
              </a:rPr>
              <a:t>Privileged authority and control paths.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D18118-9BBE-4E5E-BE47-5167F069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877050"/>
            <a:ext cx="150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D950F9-0255-4166-994F-10AD9084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9A3C4D-8741-4FE1-A20F-ABA89323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238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40742C-F26E-478E-8494-20B4B7BD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057B41-C9A4-4920-8219-A86662FD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713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594C1E-2595-4DD9-BB59-F22DEFC3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143750"/>
            <a:ext cx="457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34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E1AF81-A996-4A18-BA95-238409A4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7143750"/>
            <a:ext cx="742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0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Assets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12E566-2156-436A-B61D-568F28D3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772400"/>
            <a:ext cx="1066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BDO Grotesk"/>
                <a:ea typeface="BDO Grotesk"/>
                <a:cs typeface="BDO Grotesk"/>
              </a:defRPr>
            </a:pPr>
            <a:r>
              <a:rPr sz="900" b="0">
                <a:solidFill>
                  <a:srgbClr val="5C5A55"/>
                </a:solidFill>
                <a:latin typeface="BDO Grotesk"/>
                <a:ea typeface="BDO Grotesk"/>
                <a:cs typeface="BDO Grotesk"/>
              </a:rPr>
              <a:t>What must be protected.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8C694B-1067-4726-8859-BAE3F468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877050"/>
            <a:ext cx="150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F0BFE4-E706-400F-9C02-668748AE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F6818D-19BD-4EC1-B136-F78FFD47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388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B5965E-4C71-409A-A104-16E4AA75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7DFBA4-72A6-43DE-99F1-563A69D0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AB5109-D945-4AE0-A303-1B14417A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43750"/>
            <a:ext cx="457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34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7166F4-9EA6-40D8-99B2-9F0E5446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143750"/>
            <a:ext cx="742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0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Critical</a:t>
            </a:r>
          </a:p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0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invariants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6DB416-0DB9-4D30-BC2B-E6DBD0BE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772400"/>
            <a:ext cx="1066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BDO Grotesk"/>
                <a:ea typeface="BDO Grotesk"/>
                <a:cs typeface="BDO Grotesk"/>
              </a:defRPr>
            </a:pPr>
            <a:r>
              <a:rPr sz="900" b="0">
                <a:solidFill>
                  <a:srgbClr val="5C5A55"/>
                </a:solidFill>
                <a:latin typeface="BDO Grotesk"/>
                <a:ea typeface="BDO Grotesk"/>
                <a:cs typeface="BDO Grotesk"/>
              </a:rPr>
              <a:t>Business, operational, economic, and technical properties that must hold.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288ECF-1543-47A8-B033-D510636D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877050"/>
            <a:ext cx="150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AED206-817E-46DB-97A0-FEAC6004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F2C9A02-8DDF-4DC9-A09C-24ADFAE9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538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B19EAF-B5AD-472A-ADAF-A2D91840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3013F8-087E-46B1-85D8-DDE60B1C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6877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59C212-9151-476A-9805-09810FCD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7143750"/>
            <a:ext cx="457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34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4B1337-EB8C-4B1E-A51E-DA442AAF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7143750"/>
            <a:ext cx="742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0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Edges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887FD6-7863-4A8A-B3AB-A3CDD241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7772400"/>
            <a:ext cx="1066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A55"/>
                </a:solidFill>
                <a:latin typeface="BDO Grotesk"/>
                <a:ea typeface="BDO Grotesk"/>
                <a:cs typeface="BDO Grotesk"/>
              </a:defRPr>
            </a:pPr>
            <a:r>
              <a:rPr sz="900" b="0">
                <a:solidFill>
                  <a:srgbClr val="5C5A55"/>
                </a:solidFill>
                <a:latin typeface="BDO Grotesk"/>
                <a:ea typeface="BDO Grotesk"/>
                <a:cs typeface="BDO Grotesk"/>
              </a:rPr>
              <a:t>Trust boundaries, value flows, interfaces, and crossings.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DAB844-AF54-49F3-8873-13503A66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344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D04EFD-6929-4C00-BB51-9779DBF0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91344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D4A265-D652-4855-9127-FDBC7F9E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91344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F9E543-3C31-4331-8C35-5CFC6368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3" y="91344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F81D50-0705-4145-9AA5-1A6E23E7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0487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80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Inputs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7474AE-B282-467C-AABF-DE5D45B8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778C13-0C26-4911-BFE9-FCC8C37A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10725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125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Architecture descriptions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D11DC2-2C04-4D95-94C5-EA58EF6E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952500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45C9AB-23A2-4212-A798-9CAB2A98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610725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125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White papers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CA7161-1457-4A2E-8E01-A989724E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EEEB4DB-D5E1-4043-A5E1-76D17853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86975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125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System and architecture reviews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71B1D50-5971-438A-BE77-A87E1454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000125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C7D3467-BF1E-4E14-9640-5C9BF3D7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86975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125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Source code and configs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1D8456F-28B2-4E68-A3F3-5A99527B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F576A8-C9DC-4089-870B-1BAE2B3A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563225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125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Specs, policies, and interviews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7D9AD55-43D0-4F61-97A1-2D0A96F6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490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0ABA627-E734-4994-97A2-0D097B26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112490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28CD224-5AA5-4425-8FD2-3DA5738F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12490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5C96785-2FB0-4059-B9F4-B3171700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3" y="112490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E2B67BF-0548-4A4F-8112-0D90860B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1633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80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Output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21B43D3-01FA-45C9-A715-527A0A37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582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500" b="0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A traceable model that connects each material threat to an asset, role, invariant, trust boundary, flow, attack tree, and mitigation decision.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C36FE08-9ED9-4CBE-B176-1BE6759C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401550"/>
            <a:ext cx="8229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973FADB-0E41-4380-8AB2-833B371B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630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3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oaksecurity.io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70B33BB-7169-4B83-B1DD-E6BF832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64920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5A55"/>
                </a:solidFill>
                <a:latin typeface="BDO Grotesk"/>
                <a:ea typeface="BDO Grotesk"/>
                <a:cs typeface="BDO Grotesk"/>
              </a:defRPr>
            </a:pPr>
            <a:r>
              <a:rPr sz="1125" b="0">
                <a:solidFill>
                  <a:srgbClr val="5C5A55"/>
                </a:solidFill>
                <a:latin typeface="BDO Grotesk"/>
                <a:ea typeface="BDO Grotesk"/>
                <a:cs typeface="BDO Grotesk"/>
              </a:rPr>
              <a:t>TRACE Threat Modeling Framework</a:t>
            </a:r>
          </a:p>
        </p:txBody>
      </p:sp>
    </p:spTree>
    <p:extLst>
      <p:ext uri="{BB962C8B-B14F-4D97-AF65-F5344CB8AC3E}">
        <p14:creationId xmlns:p14="http://schemas.microsoft.com/office/powerpoint/2010/main" val="17497365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0D8109-54B1-4F1A-9C32-D7CF07E1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1346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FD6D1-938D-4E62-86A7-747664E1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3F4EE-D1EC-41A7-B779-19BED616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8" y="7810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4743D-D90E-4F6C-96DF-10B21874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7810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382D0-6964-42B2-B5ED-6AA3186B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63" y="7810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3FFB4-D1E0-44A6-813D-1AD7B7C2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8229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06aec33db4693"/>
          <a:stretch xmlns:a="http://schemas.openxmlformats.org/drawingml/2006/main"/>
        </p:blipFill>
        <p:spPr>
          <a:xfrm xmlns:a="http://schemas.openxmlformats.org/drawingml/2006/main">
            <a:off x="7524750" y="400304"/>
            <a:ext cx="1123950" cy="70434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A777C-CBCE-480B-BBD8-09403AE3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>
                    <a:alpha val="60000"/>
                  </a:srgbClr>
                </a:solidFill>
                <a:latin typeface="BDO Grotesk"/>
                <a:ea typeface="BDO Grotesk"/>
                <a:cs typeface="BDO Grotesk"/>
              </a:defRPr>
            </a:pPr>
            <a:r>
              <a:rPr sz="1200" b="1">
                <a:solidFill>
                  <a:srgbClr val="FFFFFF">
                    <a:alpha val="60000"/>
                  </a:srgbClr>
                </a:solidFill>
                <a:latin typeface="BDO Grotesk"/>
                <a:ea typeface="BDO Grotesk"/>
                <a:cs typeface="BDO Grotesk"/>
              </a:rPr>
              <a:t>TRACE / OPERATING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B56BE-4290-4931-AA51-38692075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619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BDO Grotesk"/>
                <a:ea typeface="BDO Grotesk"/>
                <a:cs typeface="BDO Grotesk"/>
              </a:defRPr>
            </a:pPr>
            <a:r>
              <a:rPr sz="3600" b="1">
                <a:solidFill>
                  <a:srgbClr val="FFFFFF"/>
                </a:solidFill>
                <a:latin typeface="BDO Grotesk"/>
                <a:ea typeface="BDO Grotesk"/>
                <a:cs typeface="BDO Grotesk"/>
              </a:rPr>
              <a:t>From source material to attack paths.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CB2BD-7B3C-4CBD-B749-B02B181E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>
                    <a:alpha val="72157"/>
                  </a:srgbClr>
                </a:solidFill>
                <a:latin typeface="BDO Grotesk"/>
                <a:ea typeface="BDO Grotesk"/>
                <a:cs typeface="BDO Grotesk"/>
              </a:defRPr>
            </a:pPr>
            <a:r>
              <a:rPr sz="1725" b="0">
                <a:solidFill>
                  <a:srgbClr val="FFFFFF">
                    <a:alpha val="72157"/>
                  </a:srgbClr>
                </a:solidFill>
                <a:latin typeface="BDO Grotesk"/>
                <a:ea typeface="BDO Grotesk"/>
                <a:cs typeface="BDO Grotesk"/>
              </a:rPr>
              <a:t>AI accelerates decomposition and coverage. Senior security experts own the assumptions, severity, plausibility, and recommendations.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3AEAD-A497-47F8-ABDA-BBFE6226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3657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E48F9-03EC-4E7C-99C9-B7EBC3D9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DFDD0-F804-458B-B9D0-994467A9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767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3AF97-91C4-4FA6-A8F2-087C6D40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F983E-2837-4883-BD60-EC258395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767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5D526-1CF9-4320-B821-E830D5F1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9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C01EF-C754-4D79-BA26-A8CE1D64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50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Ingest 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E1733-EBB5-4FCF-A291-0B7F92CA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A55"/>
                </a:solidFill>
                <a:latin typeface="BDO Grotesk"/>
                <a:ea typeface="BDO Grotesk"/>
                <a:cs typeface="BDO Grotesk"/>
              </a:defRPr>
            </a:pPr>
            <a:r>
              <a:rPr sz="1125" b="0">
                <a:solidFill>
                  <a:srgbClr val="5C5A55"/>
                </a:solidFill>
                <a:latin typeface="BDO Grotesk"/>
                <a:ea typeface="BDO Grotesk"/>
                <a:cs typeface="BDO Grotesk"/>
              </a:rPr>
              <a:t>Docs, reviews, architecture, policies, code, configs, and organisational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F53F0-063B-4E14-B8DD-19E351BA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3657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935F3-DE49-46D6-AF71-3FE80157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65C73-1A1B-4105-A920-7AC8010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767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36417-E63A-418D-92D1-17B5E536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CF5080-551C-4565-8A7B-EE92F887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767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FB216D-EEFA-489B-B539-A13F1A6B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434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9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F784A7-9C6E-40CE-8096-B13ED51A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863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50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Construct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033AAC-0E10-4BAC-AE35-70708109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292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A55"/>
                </a:solidFill>
                <a:latin typeface="BDO Grotesk"/>
                <a:ea typeface="BDO Grotesk"/>
                <a:cs typeface="BDO Grotesk"/>
              </a:defRPr>
            </a:pPr>
            <a:r>
              <a:rPr sz="1125" b="0">
                <a:solidFill>
                  <a:srgbClr val="5C5A55"/>
                </a:solidFill>
                <a:latin typeface="BDO Grotesk"/>
                <a:ea typeface="BDO Grotesk"/>
                <a:cs typeface="BDO Grotesk"/>
              </a:rPr>
              <a:t>Assets, actors, invariants, boundaries, value flows, authority paths, roles, components.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EDA58-D813-4EA7-B376-FF015178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3657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E3A437-B529-44C3-ACE9-13073724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2EDC86-28CC-4573-9F4B-8DBDB632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1150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232FFD-8557-4018-893C-CCB0FEF0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150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82E5E8-72C4-4923-9B63-FD873AC4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61150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B8AA90-6C28-461E-A40D-82CF4C62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817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C965"/>
                </a:solidFill>
                <a:latin typeface="BDO Grotesk"/>
                <a:ea typeface="BDO Grotesk"/>
                <a:cs typeface="BDO Grotesk"/>
              </a:defRPr>
            </a:pPr>
            <a:r>
              <a:rPr sz="1950" b="1">
                <a:solidFill>
                  <a:srgbClr val="FFC965"/>
                </a:solidFill>
                <a:latin typeface="BDO Grotesk"/>
                <a:ea typeface="BDO Grotesk"/>
                <a:cs typeface="BDO Grotesk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7A6B52-21D5-4117-B355-0DD7D45E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246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BDO Grotesk"/>
                <a:ea typeface="BDO Grotesk"/>
                <a:cs typeface="BDO Grotesk"/>
              </a:defRPr>
            </a:pPr>
            <a:r>
              <a:rPr sz="1500" b="1">
                <a:solidFill>
                  <a:srgbClr val="FFFFFF"/>
                </a:solidFill>
                <a:latin typeface="BDO Grotesk"/>
                <a:ea typeface="BDO Grotesk"/>
                <a:cs typeface="BDO Grotesk"/>
              </a:rPr>
              <a:t>STRIDE analysis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9357F6-B84A-406C-A1A1-C0124A9C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675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157"/>
                  </a:srgbClr>
                </a:solidFill>
                <a:latin typeface="BDO Grotesk"/>
                <a:ea typeface="BDO Grotesk"/>
                <a:cs typeface="BDO Grotesk"/>
              </a:defRPr>
            </a:pPr>
            <a:r>
              <a:rPr sz="1125" b="0">
                <a:solidFill>
                  <a:srgbClr val="FFFFFF">
                    <a:alpha val="72157"/>
                  </a:srgbClr>
                </a:solidFill>
                <a:latin typeface="BDO Grotesk"/>
                <a:ea typeface="BDO Grotesk"/>
                <a:cs typeface="BDO Grotesk"/>
              </a:rPr>
              <a:t>Structured threat pass across components, flows, and privilege boundaries.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DE98BE-F02A-4AB9-980D-576A289B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15050"/>
            <a:ext cx="3657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EC0942-E821-41E8-801F-0360E5EC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150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FC088D-2889-42B3-A359-9B152F21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1150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0B2370-B26A-4BDA-970D-1F9D8288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79595D-53F0-4A7B-AADC-739AF97F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1150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57062B-5D75-44BE-A2A8-359EDEC3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3817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9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1B7A57-3D4F-4BDD-BAAA-1C59521D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3246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50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Attack trees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8392B2-8395-497B-BF42-E30A5E8C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6675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A55"/>
                </a:solidFill>
                <a:latin typeface="BDO Grotesk"/>
                <a:ea typeface="BDO Grotesk"/>
                <a:cs typeface="BDO Grotesk"/>
              </a:defRPr>
            </a:pPr>
            <a:r>
              <a:rPr sz="1125" b="0">
                <a:solidFill>
                  <a:srgbClr val="5C5A55"/>
                </a:solidFill>
                <a:latin typeface="BDO Grotesk"/>
                <a:ea typeface="BDO Grotesk"/>
                <a:cs typeface="BDO Grotesk"/>
              </a:rPr>
              <a:t>Top threats decomposed into plausible exploit paths and enabling conditions.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E1BC90-EB29-4E69-A500-8CD677C4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753350"/>
            <a:ext cx="3657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408F3C-458A-42E5-A298-D779EBCB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7533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377A27-0E50-4C80-A25D-A421FA34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7533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6BCDBD-3B38-4466-AB0E-0352046D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7533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229692-D210-4168-95D7-29D3D1A5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77533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9A5EDF-F939-4C3A-8B33-D000BFD0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200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9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46891E-9282-4F83-A714-776A0592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9629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50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Coordination inspection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CAF50C-3163-4C6F-9F19-8648BFAA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3058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A55"/>
                </a:solidFill>
                <a:latin typeface="BDO Grotesk"/>
                <a:ea typeface="BDO Grotesk"/>
                <a:cs typeface="BDO Grotesk"/>
              </a:defRPr>
            </a:pPr>
            <a:r>
              <a:rPr sz="1125" b="0">
                <a:solidFill>
                  <a:srgbClr val="5C5A55"/>
                </a:solidFill>
                <a:latin typeface="BDO Grotesk"/>
                <a:ea typeface="BDO Grotesk"/>
                <a:cs typeface="BDO Grotesk"/>
              </a:rPr>
              <a:t>Optional pass for governance bodies, committees, vendors, administrators, operators, and other actor groups.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9D9CB6-9E36-4EC5-872A-63B91BD8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753350"/>
            <a:ext cx="3657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398CAD-B4B4-4C0D-8602-68741F69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7533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2F1530-6137-499E-B984-F8E22EE2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7533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D66C04-BE7C-4F0E-A6E0-F9EF6DEB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7533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A8246B-DD53-4EE4-A9E0-16CF3AC6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7753350"/>
            <a:ext cx="9191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4763D0-E093-4AC8-85D2-41EAF9EF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80200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95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79053C-DBCA-4FE1-BF13-77EFC3BF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9629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BDO Grotesk"/>
                <a:ea typeface="BDO Grotesk"/>
                <a:cs typeface="BDO Grotesk"/>
              </a:defRPr>
            </a:pPr>
            <a:r>
              <a:rPr sz="1500" b="1">
                <a:solidFill>
                  <a:srgbClr val="000000"/>
                </a:solidFill>
                <a:latin typeface="BDO Grotesk"/>
                <a:ea typeface="BDO Grotesk"/>
                <a:cs typeface="BDO Grotesk"/>
              </a:rPr>
              <a:t>Roadmap outputs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C9D2E8-6A34-4944-913C-A0F7FBD1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3058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A55"/>
                </a:solidFill>
                <a:latin typeface="BDO Grotesk"/>
                <a:ea typeface="BDO Grotesk"/>
                <a:cs typeface="BDO Grotesk"/>
              </a:defRPr>
            </a:pPr>
            <a:r>
              <a:rPr sz="1125" b="0">
                <a:solidFill>
                  <a:srgbClr val="5C5A55"/>
                </a:solidFill>
                <a:latin typeface="BDO Grotesk"/>
                <a:ea typeface="BDO Grotesk"/>
                <a:cs typeface="BDO Grotesk"/>
              </a:rPr>
              <a:t>Risk ranking, mitigations, open questions, and assessment, audit, or launch guidance.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4131C7-776C-4464-9BAC-807062DF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726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6B9A97-B911-4C4E-A2DF-FB086873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99726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F5EDB7-7427-4E81-988E-30CB3D81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99726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823604-57DE-4F42-A4F9-01FB2196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3" y="99726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9B91E9B-D0B3-423B-BBA5-32A8FE36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886950"/>
            <a:ext cx="541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DO Grotesk"/>
                <a:ea typeface="BDO Grotesk"/>
                <a:cs typeface="BDO Grotesk"/>
              </a:defRPr>
            </a:pPr>
            <a:r>
              <a:rPr sz="1800" b="1">
                <a:solidFill>
                  <a:srgbClr val="FFFFFF"/>
                </a:solidFill>
                <a:latin typeface="BDO Grotesk"/>
                <a:ea typeface="BDO Grotesk"/>
                <a:cs typeface="BDO Grotesk"/>
              </a:rPr>
              <a:t>Designed with human-AI co-working in mind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219937-41A9-4828-B65E-4AD97A55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2870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72941"/>
                  </a:srgbClr>
                </a:solidFill>
                <a:latin typeface="BDO Grotesk"/>
                <a:ea typeface="BDO Grotesk"/>
                <a:cs typeface="BDO Grotesk"/>
              </a:defRPr>
            </a:pPr>
            <a:r>
              <a:rPr sz="1275" b="0">
                <a:solidFill>
                  <a:srgbClr val="FFFFFF">
                    <a:alpha val="72941"/>
                  </a:srgbClr>
                </a:solidFill>
                <a:latin typeface="BDO Grotesk"/>
                <a:ea typeface="BDO Grotesk"/>
                <a:cs typeface="BDO Grotesk"/>
              </a:rPr>
              <a:t>A deliberate sequential workflow uses AI for decomposition, coverage, and draft structure while senior security experts own the risk decisions.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E378F0-741C-4FF1-B2EC-C79AE6B2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934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0487687-BBAB-479E-8626-9A804DB2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08966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>
                    <a:alpha val="81569"/>
                  </a:srgbClr>
                </a:solidFill>
                <a:latin typeface="BDO Grotesk"/>
                <a:ea typeface="BDO Grotesk"/>
                <a:cs typeface="BDO Grotesk"/>
              </a:defRPr>
            </a:pPr>
            <a:r>
              <a:rPr sz="1125" b="1">
                <a:solidFill>
                  <a:srgbClr val="FFFFFF">
                    <a:alpha val="81569"/>
                  </a:srgbClr>
                </a:solidFill>
                <a:latin typeface="BDO Grotesk"/>
                <a:ea typeface="BDO Grotesk"/>
                <a:cs typeface="BDO Grotesk"/>
              </a:rPr>
              <a:t>AI proposes source inventories, model candidates, and coverage gaps.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F6105A7-8B4B-474A-A64F-D43258F2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5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9A07463-1B57-4E88-896D-1269067F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3157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>
                    <a:alpha val="81569"/>
                  </a:srgbClr>
                </a:solidFill>
                <a:latin typeface="BDO Grotesk"/>
                <a:ea typeface="BDO Grotesk"/>
                <a:cs typeface="BDO Grotesk"/>
              </a:defRPr>
            </a:pPr>
            <a:r>
              <a:rPr sz="1125" b="1">
                <a:solidFill>
                  <a:srgbClr val="FFFFFF">
                    <a:alpha val="81569"/>
                  </a:srgbClr>
                </a:solidFill>
                <a:latin typeface="BDO Grotesk"/>
                <a:ea typeface="BDO Grotesk"/>
                <a:cs typeface="BDO Grotesk"/>
              </a:rPr>
              <a:t>Experts approve and complement assumptions, scope, and relevance.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81503C-A7EB-427C-8E36-F3B3F40C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72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DD2F3D-D9AA-4B06-B49D-95EC0685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7348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>
                    <a:alpha val="81569"/>
                  </a:srgbClr>
                </a:solidFill>
                <a:latin typeface="BDO Grotesk"/>
                <a:ea typeface="BDO Grotesk"/>
                <a:cs typeface="BDO Grotesk"/>
              </a:defRPr>
            </a:pPr>
            <a:r>
              <a:rPr sz="1125" b="1">
                <a:solidFill>
                  <a:srgbClr val="FFFFFF">
                    <a:alpha val="81569"/>
                  </a:srgbClr>
                </a:solidFill>
                <a:latin typeface="BDO Grotesk"/>
                <a:ea typeface="BDO Grotesk"/>
                <a:cs typeface="BDO Grotesk"/>
              </a:rPr>
              <a:t>Experts set severity, plausibility, and remediation guidance.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E0882E2-54A4-472B-8649-AE2129DB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0801350"/>
            <a:ext cx="2933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6471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7752015-C7E9-4199-94EC-30FCE1BF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0801350"/>
            <a:ext cx="73818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7999780-FE19-4919-9730-2B6C60F5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0801350"/>
            <a:ext cx="73818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18AF1D7-E7C3-459A-9E49-281D49EE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0801350"/>
            <a:ext cx="73818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AD99157-7BA4-4478-B2D5-A1C65A53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0801350"/>
            <a:ext cx="73818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00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05E576-3EB0-4E52-8F41-E870F6A5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104900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DO Grotesk"/>
                <a:ea typeface="BDO Grotesk"/>
                <a:cs typeface="BDO Grotesk"/>
              </a:defRPr>
            </a:pPr>
            <a:r>
              <a:rPr sz="1500" b="1">
                <a:solidFill>
                  <a:srgbClr val="FFFFFF"/>
                </a:solidFill>
                <a:latin typeface="BDO Grotesk"/>
                <a:ea typeface="BDO Grotesk"/>
                <a:cs typeface="BDO Grotesk"/>
              </a:rPr>
              <a:t>Human Decision Points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F9CC1CF-71AB-4159-8CB5-4911A663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13919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>
                    <a:alpha val="72941"/>
                  </a:srgbClr>
                </a:solidFill>
                <a:latin typeface="BDO Grotesk"/>
                <a:ea typeface="BDO Grotesk"/>
                <a:cs typeface="BDO Grotesk"/>
              </a:defRPr>
            </a:pPr>
            <a:r>
              <a:rPr sz="975" b="0">
                <a:solidFill>
                  <a:srgbClr val="FFFFFF">
                    <a:alpha val="72941"/>
                  </a:srgbClr>
                </a:solidFill>
                <a:latin typeface="BDO Grotesk"/>
                <a:ea typeface="BDO Grotesk"/>
                <a:cs typeface="BDO Grotesk"/>
              </a:rPr>
              <a:t>Source inventory, TRACE model, STRIDE Threat identification and ranking, attack trees, roadmap.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9E8337C-4A6C-48D2-B91F-1551D551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401550"/>
            <a:ext cx="8229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2302958-B2FD-4ADC-ADFB-E98EA488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630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965"/>
                </a:solidFill>
                <a:latin typeface="BDO Grotesk"/>
                <a:ea typeface="BDO Grotesk"/>
                <a:cs typeface="BDO Grotesk"/>
              </a:defRPr>
            </a:pPr>
            <a:r>
              <a:rPr sz="1350" b="1">
                <a:solidFill>
                  <a:srgbClr val="FFC965"/>
                </a:solidFill>
                <a:latin typeface="BDO Grotesk"/>
                <a:ea typeface="BDO Grotesk"/>
                <a:cs typeface="BDO Grotesk"/>
              </a:rPr>
              <a:t>oaksecurity.io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DFB83D0-7D50-4078-8312-69A5740F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64920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>
                    <a:alpha val="60000"/>
                  </a:srgbClr>
                </a:solidFill>
                <a:latin typeface="BDO Grotesk"/>
                <a:ea typeface="BDO Grotesk"/>
                <a:cs typeface="BDO Grotesk"/>
              </a:defRPr>
            </a:pPr>
            <a:r>
              <a:rPr sz="1125" b="0">
                <a:solidFill>
                  <a:srgbClr val="FFFFFF">
                    <a:alpha val="60000"/>
                  </a:srgbClr>
                </a:solidFill>
                <a:latin typeface="BDO Grotesk"/>
                <a:ea typeface="BDO Grotesk"/>
                <a:cs typeface="BDO Grotesk"/>
              </a:rPr>
              <a:t>TRACE Threat Modeling Framework</a:t>
            </a:r>
          </a:p>
        </p:txBody>
      </p:sp>
    </p:spTree>
    <p:extLst>
      <p:ext uri="{BB962C8B-B14F-4D97-AF65-F5344CB8AC3E}">
        <p14:creationId xmlns:p14="http://schemas.microsoft.com/office/powerpoint/2010/main" val="1869525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2026-05-30T16:19:39.3610000Z</dcterms:created>
  <dcterms:modified xsi:type="dcterms:W3CDTF">2026-05-30T16:19:39.3610000Z</dcterms:modified>
</coreProperties>
</file>